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Gelasio"/>
      <p:regular r:id="rId17"/>
    </p:embeddedFont>
    <p:embeddedFont>
      <p:font typeface="Gelasio Bold"/>
      <p:regular r:id="rId18"/>
    </p:embeddedFont>
    <p:embeddedFont>
      <p:font typeface="Lato"/>
      <p:regular r:id="rId19"/>
    </p:embeddedFont>
    <p:embeddedFont>
      <p:font typeface="Lato Bold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11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Uncovering spending patterns, customer segments, and product preferences across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3,900 transactions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to guide strategic business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37803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35150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3,900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909637" y="208009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Total Purchases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386608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Across all product categories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72433" y="1435150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18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3685952" y="208009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Columns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72433" y="2386608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Demographics, behavior &amp; purchases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48747" y="1435150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37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6462266" y="208009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048747" y="2386608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 Review Rating column only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6119" y="2914650"/>
            <a:ext cx="239769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Customer Demographics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96119" y="3277865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Age, Gender, Location, Subscription Status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49701" y="291465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Purchase Details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749701" y="3277865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Item, Category, Amount, Season, Size, Color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119" y="384482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Shopping Behavior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96119" y="427888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Discount Applied, Promo Code, Previous Purchases, Frequency, Review Rating, Shipping Type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1871" y="361801"/>
            <a:ext cx="4284836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Preparation in Python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7583" y="924967"/>
            <a:ext cx="4845546" cy="92757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5227" y="1065461"/>
            <a:ext cx="1584424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Loading &amp; Exploration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625227" y="1330151"/>
            <a:ext cx="4507409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Imported dataset via 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; used 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and 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for structure and summary statistics.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7583" y="1964978"/>
            <a:ext cx="4845546" cy="92757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5227" y="2105471"/>
            <a:ext cx="1918990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Cleaning &amp; Standardization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25227" y="2370162"/>
            <a:ext cx="4507409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Imputed missing Review Ratings using median per category. Renamed columns to </a:t>
            </a:r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snake_case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 Dropped redundant 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7583" y="3004989"/>
            <a:ext cx="4845546" cy="92757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5227" y="3145482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25227" y="3410173"/>
            <a:ext cx="4507409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Created 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by binning ages and 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from purchase data.</a:t>
            </a:r>
            <a:endParaRPr lang="en-US" sz="9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7583" y="4045000"/>
            <a:ext cx="4845546" cy="73662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25227" y="4185493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Database Integration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625227" y="4450184"/>
            <a:ext cx="4507409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Loaded cleaned DataFrame into </a:t>
            </a:r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PostgreSQL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for SQL-based analysis.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638755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Revenue &amp; High-Spending Customers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Revenue by Gender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Male customers generated over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2x the revenue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of female customers — $157,890 vs. $75,191.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488853"/>
            <a:ext cx="3902943" cy="1056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749701" y="2694310"/>
            <a:ext cx="28874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High-Spending Discount Users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749701" y="3057525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839 customers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used discounts yet still spent above the average purchase amount, representing a valuable segment of deal-savvy high spenders.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616401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Product Ratings &amp; Shipping Insights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43334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Top 5 Products by Rating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Gloves lead with a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3.86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average rating. All top products cluster tightly between 3.78–3.86.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488853"/>
            <a:ext cx="3902943" cy="1056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749701" y="2694310"/>
            <a:ext cx="258633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Shipping Type Comparison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749701" y="3057525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Express shipping customers spend slightly more on average (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$60.48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) vs. Standard (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$58.46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), suggesting higher intent among express buyers.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552189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Subscribers vs. Non-Subscribers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Findings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Non-subscribers dominate in volume (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73%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of customers) and total revenue (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$170,436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vs. $62,645). However, average spend is nearly identical — $59.87 vs. $59.49 — suggesting subscription status doesn't significantly impact per-transaction value.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3133874"/>
            <a:ext cx="3902943" cy="779562"/>
          </a:xfrm>
          <a:prstGeom prst="roundRect">
            <a:avLst>
              <a:gd name="adj" fmla="val 7638"/>
            </a:avLst>
          </a:prstGeom>
          <a:solidFill>
            <a:srgbClr val="B6D6F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3353693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3296841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Subscribers represent a growth opportunity: similar spend, but far fewer in number.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132" y="353764"/>
            <a:ext cx="659926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Discount Patterns &amp; Customer Segmentation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4132" y="1012552"/>
            <a:ext cx="295974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Top 5 Discount-Dependent Products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34132" y="1328440"/>
            <a:ext cx="3986585" cy="1964234"/>
          </a:xfrm>
          <a:prstGeom prst="roundRect">
            <a:avLst>
              <a:gd name="adj" fmla="val 265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894" y="1333202"/>
            <a:ext cx="3977060" cy="32578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62868" y="1403077"/>
            <a:ext cx="2593107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Product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951485" y="1403077"/>
            <a:ext cx="179769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Discount Rate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8894" y="1658987"/>
            <a:ext cx="3977060" cy="32578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62868" y="1728862"/>
            <a:ext cx="2593107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51485" y="1728862"/>
            <a:ext cx="179769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50.00%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894" y="1984772"/>
            <a:ext cx="3977060" cy="32578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62868" y="2054647"/>
            <a:ext cx="2593107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Sneakers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51485" y="2054647"/>
            <a:ext cx="179769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49.66%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8894" y="2310557"/>
            <a:ext cx="3977060" cy="32578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62868" y="2380431"/>
            <a:ext cx="2593107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Coat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951485" y="2380431"/>
            <a:ext cx="179769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49.07%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8894" y="2636341"/>
            <a:ext cx="3977060" cy="32578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62868" y="2706216"/>
            <a:ext cx="2593107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Sweater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951485" y="2706216"/>
            <a:ext cx="179769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48.17%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8894" y="2962126"/>
            <a:ext cx="3977060" cy="32578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62868" y="3032001"/>
            <a:ext cx="2593107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Pants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951485" y="3032001"/>
            <a:ext cx="179769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47.37%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28046" y="1012552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Customer Segments</a:t>
            </a:r>
            <a:endParaRPr lang="en-US" sz="12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8046" y="1328440"/>
            <a:ext cx="3986585" cy="2869555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4728046" y="4320034"/>
            <a:ext cx="3986585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Loyal customers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make up 80% of the base. Repeat buyers with &gt;5 purchases: 958 subscribers vs. 2,518 non-subscribers.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066" y="342528"/>
            <a:ext cx="4831110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Revenue by Category &amp; Age Group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98066" y="936352"/>
            <a:ext cx="2266876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Top 3 Products per Category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8066" y="1221507"/>
            <a:ext cx="3833366" cy="3474244"/>
          </a:xfrm>
          <a:prstGeom prst="roundRect">
            <a:avLst>
              <a:gd name="adj" fmla="val 139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2828" y="1226269"/>
            <a:ext cx="3823841" cy="28872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18021" y="1287140"/>
            <a:ext cx="1524670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Category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020491" y="1287140"/>
            <a:ext cx="1484040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Product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82330" y="1287140"/>
            <a:ext cx="1486421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Orders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2828" y="1514996"/>
            <a:ext cx="3823841" cy="28872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18021" y="1575867"/>
            <a:ext cx="1524670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Accessories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20491" y="1575867"/>
            <a:ext cx="1484040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Jewelry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82330" y="1575867"/>
            <a:ext cx="1486421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171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2828" y="1803722"/>
            <a:ext cx="3823841" cy="28872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18021" y="1864593"/>
            <a:ext cx="1524670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Accessories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20491" y="1864593"/>
            <a:ext cx="1484040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Sunglasses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82330" y="1864593"/>
            <a:ext cx="1486421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161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2828" y="2092449"/>
            <a:ext cx="3823841" cy="28872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18021" y="2153320"/>
            <a:ext cx="1524670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Accessories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20491" y="2153320"/>
            <a:ext cx="1484040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Belt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82330" y="2153320"/>
            <a:ext cx="1486421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161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2828" y="2381176"/>
            <a:ext cx="3823841" cy="28872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18021" y="2442046"/>
            <a:ext cx="1524670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Clothing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20491" y="2442046"/>
            <a:ext cx="1484040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Blouse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82330" y="2442046"/>
            <a:ext cx="1486421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171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2828" y="2669902"/>
            <a:ext cx="3823841" cy="28872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18021" y="2730773"/>
            <a:ext cx="1524670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Clothing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020491" y="2730773"/>
            <a:ext cx="1484040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Pants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82330" y="2730773"/>
            <a:ext cx="1486421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171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2828" y="2958629"/>
            <a:ext cx="3823841" cy="28872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18021" y="3019499"/>
            <a:ext cx="1524670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Clothing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020491" y="3019499"/>
            <a:ext cx="1484040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Shirt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82330" y="3019499"/>
            <a:ext cx="1486421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169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2828" y="3247355"/>
            <a:ext cx="3823841" cy="28872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718021" y="3308226"/>
            <a:ext cx="1524670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Footwear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20491" y="3308226"/>
            <a:ext cx="1484040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Sandals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82330" y="3308226"/>
            <a:ext cx="1486421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160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2828" y="3536082"/>
            <a:ext cx="3823841" cy="28872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18021" y="3596953"/>
            <a:ext cx="1524670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Footwear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020491" y="3596953"/>
            <a:ext cx="1484040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Shoes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82330" y="3596953"/>
            <a:ext cx="1486421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150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02828" y="3824808"/>
            <a:ext cx="3823841" cy="28872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718021" y="3885679"/>
            <a:ext cx="1524670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Footwear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020491" y="3885679"/>
            <a:ext cx="1484040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Sneakers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282330" y="3885679"/>
            <a:ext cx="1486421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145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02828" y="4113535"/>
            <a:ext cx="3823841" cy="28872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718021" y="4174406"/>
            <a:ext cx="1524670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Outerwear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020491" y="4174406"/>
            <a:ext cx="1484040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Jacket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282330" y="4174406"/>
            <a:ext cx="1486421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163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02828" y="4402262"/>
            <a:ext cx="3823841" cy="28872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718021" y="4463132"/>
            <a:ext cx="1524670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Outerwear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020491" y="4463132"/>
            <a:ext cx="1484040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Coat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282330" y="4463132"/>
            <a:ext cx="1486421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161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717182" y="936352"/>
            <a:ext cx="1907084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Revenue by Age Group</a:t>
            </a:r>
            <a:endParaRPr lang="en-US" sz="1100" dirty="0"/>
          </a:p>
        </p:txBody>
      </p:sp>
      <p:pic>
        <p:nvPicPr>
          <p:cNvPr id="5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7182" y="1221507"/>
            <a:ext cx="3833366" cy="2759273"/>
          </a:xfrm>
          <a:prstGeom prst="rect">
            <a:avLst/>
          </a:prstGeom>
        </p:spPr>
      </p:pic>
      <p:sp>
        <p:nvSpPr>
          <p:cNvPr id="55" name="Text 52"/>
          <p:cNvSpPr/>
          <p:nvPr/>
        </p:nvSpPr>
        <p:spPr>
          <a:xfrm>
            <a:off x="4717182" y="4086002"/>
            <a:ext cx="3833366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Young Adults lead revenue contribution at </a:t>
            </a:r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$62,143</a:t>
            </a:r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 Revenue is relatively evenly distributed across all age groups.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1901" y="407119"/>
            <a:ext cx="3835226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Power BI Dashboard</a:t>
            </a:r>
            <a:endParaRPr lang="en-US" sz="2650" dirty="0"/>
          </a:p>
        </p:txBody>
      </p:sp>
      <p:sp>
        <p:nvSpPr>
          <p:cNvPr id="4" name="Shape 1"/>
          <p:cNvSpPr/>
          <p:nvPr/>
        </p:nvSpPr>
        <p:spPr>
          <a:xfrm>
            <a:off x="3901901" y="1022598"/>
            <a:ext cx="4769197" cy="779115"/>
          </a:xfrm>
          <a:prstGeom prst="roundRect">
            <a:avLst>
              <a:gd name="adj" fmla="val 7284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41725" y="1162422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Metrics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041725" y="1450777"/>
            <a:ext cx="448954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3.9K customers · $59.76 avg purchase · 3.75 avg review rating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901901" y="1930450"/>
            <a:ext cx="4769197" cy="779115"/>
          </a:xfrm>
          <a:prstGeom prst="roundRect">
            <a:avLst>
              <a:gd name="adj" fmla="val 7284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41725" y="2070274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Subscription Split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041725" y="2358628"/>
            <a:ext cx="448954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Donut chart: </a:t>
            </a:r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27% subscribers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vs. 73% non-subscribers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901901" y="2838301"/>
            <a:ext cx="4769197" cy="990228"/>
          </a:xfrm>
          <a:prstGeom prst="roundRect">
            <a:avLst>
              <a:gd name="adj" fmla="val 5731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41725" y="2978125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Category Views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041725" y="3266480"/>
            <a:ext cx="4489549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Bar charts for revenue and sales across Clothing, Accessories, Footwear &amp; Outerwear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901901" y="3957265"/>
            <a:ext cx="4769197" cy="779115"/>
          </a:xfrm>
          <a:prstGeom prst="roundRect">
            <a:avLst>
              <a:gd name="adj" fmla="val 7284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41725" y="4097089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Age Group Analysis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041725" y="4385444"/>
            <a:ext cx="448954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Horizontal bar charts breaking down revenue and sales by age segment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79748"/>
            <a:ext cx="486057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Business Recommendations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806253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7658" y="180625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27658" y="2112764"/>
            <a:ext cx="20675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Promote exclusive subscriber benefits to grow the 27% base.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806253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03972" y="180625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803972" y="2112764"/>
            <a:ext cx="206759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Reward repeat buyers to move them into the "Loyal" segment (80% of base).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1806253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80287" y="1806253"/>
            <a:ext cx="182961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580287" y="2112764"/>
            <a:ext cx="206759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Balance sales boosts with margin control — 5 products show ~47–50% discount rates.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076724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27658" y="30767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1027658" y="3383235"/>
            <a:ext cx="206759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Focus on high-revenue age groups (Young Adults) and express-shipping users.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72433" y="3076724"/>
            <a:ext cx="354360" cy="3543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803972" y="30767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803972" y="3383235"/>
            <a:ext cx="206759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Highlight top-rated (Gloves 3.86★) and best-selling products in campaigns.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2026-06-06T02:37:45Z</dcterms:created>
  <dcterms:modified xsi:type="dcterms:W3CDTF">2026-06-06T02:37:45Z</dcterms:modified>
</cp:coreProperties>
</file>